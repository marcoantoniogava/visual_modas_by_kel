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4" r:id="rId4"/>
  </p:sldMasterIdLst>
  <p:sldIdLst>
    <p:sldId id="256" r:id="rId5"/>
    <p:sldId id="307" r:id="rId6"/>
    <p:sldId id="319" r:id="rId7"/>
    <p:sldId id="317" r:id="rId8"/>
    <p:sldId id="315" r:id="rId9"/>
    <p:sldId id="267" r:id="rId10"/>
    <p:sldId id="320" r:id="rId11"/>
    <p:sldId id="287" r:id="rId12"/>
    <p:sldId id="316" r:id="rId13"/>
    <p:sldId id="32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8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ADA38B-5450-8C14-C16D-E91221124B56}" v="318" dt="2025-11-03T18:18:46.448"/>
    <p1510:client id="{9EFBB821-9D80-A6A0-BB65-BEAB3B1117B1}" v="777" dt="2025-11-03T19:25:19.055"/>
    <p1510:client id="{A5DC7894-369E-5651-970E-0A7A9B956383}" v="96" dt="2025-11-03T19:17:02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8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53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096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8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13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771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722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95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8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04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9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4" y="6459789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9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780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8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692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07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8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8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414782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498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3" y="6459789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BD9EDE-63A6-4DC5-9A95-97D841FE6316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459789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1" y="6459789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rgbClr val="FFFFFF"/>
                </a:solidFill>
              </a:defRPr>
            </a:lvl1pPr>
          </a:lstStyle>
          <a:p>
            <a:fld id="{8B362C99-AD46-4805-AD22-6B4CFC260E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26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</p:sldLayoutIdLst>
  <p:txStyles>
    <p:titleStyle>
      <a:lvl1pPr algn="l" defTabSz="914354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6" indent="-91436" algn="l" defTabSz="914354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29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00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71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42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">
            <a:extLst>
              <a:ext uri="{FF2B5EF4-FFF2-40B4-BE49-F238E27FC236}">
                <a16:creationId xmlns:a16="http://schemas.microsoft.com/office/drawing/2014/main" id="{DD7B56C4-6BEB-42F7-B2B6-9E896ABE75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25565" y="505103"/>
            <a:ext cx="985562" cy="88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2150877" y="535349"/>
            <a:ext cx="7226930" cy="824841"/>
          </a:xfrm>
        </p:spPr>
        <p:txBody>
          <a:bodyPr>
            <a:noAutofit/>
          </a:bodyPr>
          <a:lstStyle/>
          <a:p>
            <a:pPr algn="ctr">
              <a:spcBef>
                <a:spcPct val="50000"/>
              </a:spcBef>
            </a:pPr>
            <a:br>
              <a:rPr lang="pt-BR" sz="2200">
                <a:latin typeface="Arial" pitchFamily="34" charset="0"/>
                <a:cs typeface="Arial" pitchFamily="34" charset="0"/>
              </a:rPr>
            </a:br>
            <a:br>
              <a:rPr lang="pt-BR" sz="2200">
                <a:latin typeface="Arial" pitchFamily="34" charset="0"/>
                <a:cs typeface="Arial" pitchFamily="34" charset="0"/>
              </a:rPr>
            </a:br>
            <a:br>
              <a:rPr lang="pt-BR" sz="2200">
                <a:latin typeface="Arial" pitchFamily="34" charset="0"/>
                <a:cs typeface="Arial" pitchFamily="34" charset="0"/>
              </a:rPr>
            </a:br>
            <a:r>
              <a:rPr lang="pt-BR" sz="2000">
                <a:solidFill>
                  <a:schemeClr val="tx1"/>
                </a:solidFill>
                <a:latin typeface="Arial" panose="020B0604020202020204" pitchFamily="34" charset="0"/>
                <a:cs typeface="Arial" pitchFamily="34" charset="0"/>
              </a:rPr>
              <a:t>Sociedade Assistência aos Trabalhadores do Carvão </a:t>
            </a:r>
            <a:r>
              <a:rPr lang="pt-BR" sz="2000">
                <a:solidFill>
                  <a:schemeClr val="tx1"/>
                </a:solidFill>
                <a:latin typeface="Arial" panose="020B0604020202020204" pitchFamily="34" charset="0"/>
              </a:rPr>
              <a:t>– SATC </a:t>
            </a:r>
            <a:br>
              <a:rPr lang="pt-BR" sz="200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sz="2000">
                <a:solidFill>
                  <a:schemeClr val="tx1"/>
                </a:solidFill>
                <a:latin typeface="Arial" panose="020B0604020202020204" pitchFamily="34" charset="0"/>
              </a:rPr>
              <a:t>Curso Técnico em Informática</a:t>
            </a:r>
            <a:endParaRPr lang="pt-BR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23">
            <a:extLst>
              <a:ext uri="{FF2B5EF4-FFF2-40B4-BE49-F238E27FC236}">
                <a16:creationId xmlns:a16="http://schemas.microsoft.com/office/drawing/2014/main" id="{DBF1F810-08C7-49F5-B64C-F6D6B0795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21471" y="398776"/>
            <a:ext cx="844964" cy="1097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/>
          <p:cNvSpPr/>
          <p:nvPr/>
        </p:nvSpPr>
        <p:spPr>
          <a:xfrm>
            <a:off x="1682016" y="2382974"/>
            <a:ext cx="8538883" cy="10407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85000"/>
              </a:lnSpc>
              <a:spcBef>
                <a:spcPct val="50000"/>
              </a:spcBef>
              <a:tabLst>
                <a:tab pos="2699885" algn="ctr"/>
                <a:tab pos="5399770" algn="r"/>
                <a:tab pos="1485826" algn="l"/>
                <a:tab pos="2699885" algn="ctr"/>
                <a:tab pos="5399770" algn="r"/>
              </a:tabLst>
            </a:pPr>
            <a:r>
              <a:rPr lang="pt-BR" sz="2800" b="1" spc="-51">
                <a:latin typeface="Arial"/>
                <a:ea typeface="+mj-ea"/>
                <a:cs typeface="Arial"/>
              </a:rPr>
              <a:t>VISUAL MODAS BY KEL:</a:t>
            </a:r>
            <a:endParaRPr lang="pt-BR"/>
          </a:p>
          <a:p>
            <a:pPr algn="ctr">
              <a:lnSpc>
                <a:spcPct val="85000"/>
              </a:lnSpc>
              <a:spcBef>
                <a:spcPct val="50000"/>
              </a:spcBef>
              <a:tabLst>
                <a:tab pos="2699885" algn="ctr"/>
                <a:tab pos="5399770" algn="r"/>
                <a:tab pos="1485826" algn="l"/>
                <a:tab pos="2699885" algn="ctr"/>
                <a:tab pos="5399770" algn="r"/>
              </a:tabLst>
            </a:pPr>
            <a:r>
              <a:rPr lang="pt-BR" sz="2800" b="1" spc="-51">
                <a:latin typeface="Arial"/>
                <a:ea typeface="+mj-ea"/>
                <a:cs typeface="Arial"/>
              </a:rPr>
              <a:t>E-COMMERCE PARA O SETOR DE MODA</a:t>
            </a:r>
            <a:endParaRPr lang="pt-BR" sz="2800" b="1">
              <a:ea typeface="Calibri"/>
              <a:cs typeface="Calibri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949090" y="4972127"/>
            <a:ext cx="7981601" cy="1102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36" indent="-91436" algn="ctr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pt-BR" sz="2000" b="1"/>
              <a:t>ACADÊMICOS: MARCO ANTÔNIO DE FREITAS GAVA; PEDRO HENRIQUE DO NASCIMENTO URBANO</a:t>
            </a:r>
          </a:p>
          <a:p>
            <a:pPr marL="91436" indent="-91436" algn="ctr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pt-BR" sz="2000" b="1"/>
              <a:t>ORIENTADORA: CRISTIANE PAVEI MARTINELLO FERNANDES, </a:t>
            </a:r>
            <a:r>
              <a:rPr lang="pt-BR" sz="2000" b="1" err="1"/>
              <a:t>Msc</a:t>
            </a:r>
            <a:r>
              <a:rPr lang="pt-BR" sz="2000" b="1"/>
              <a:t>. C.C.</a:t>
            </a:r>
          </a:p>
        </p:txBody>
      </p:sp>
    </p:spTree>
    <p:extLst>
      <p:ext uri="{BB962C8B-B14F-4D97-AF65-F5344CB8AC3E}">
        <p14:creationId xmlns:p14="http://schemas.microsoft.com/office/powerpoint/2010/main" val="286102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942A7-141F-9EDA-2608-246B60C5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83E04-F581-D2E2-8FD6-89CB0C26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tx1"/>
                </a:solidFill>
              </a:rPr>
              <a:t>OBJETIVO GERAL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B8218A0-FADA-D233-8DEB-C569F6226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56962" y="2011988"/>
            <a:ext cx="4998721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570865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2400" b="1" dirty="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Objetivo Geral: 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Digitalizar operações da loja física, tornando vendas mais eficientes e acessíveis;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Desenvolver um site de vendas com painel administrativo para gestão de produtos, pedidos e logística.</a:t>
            </a:r>
          </a:p>
        </p:txBody>
      </p:sp>
      <p:pic>
        <p:nvPicPr>
          <p:cNvPr id="8" name="Espaço Reservado para Conteúdo 7" descr="Forma&#10;&#10;O conteúdo gerado por IA pode estar incorreto.">
            <a:extLst>
              <a:ext uri="{FF2B5EF4-FFF2-40B4-BE49-F238E27FC236}">
                <a16:creationId xmlns:a16="http://schemas.microsoft.com/office/drawing/2014/main" id="{9F975CB7-987E-3724-976C-497C2B45E2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392" y="2328027"/>
            <a:ext cx="4588625" cy="3003357"/>
          </a:xfrm>
          <a:effectLst>
            <a:reflection blurRad="50800" stA="36000" endPos="19000" dir="5400000" sy="-100000" algn="bl" rotWithShape="0"/>
          </a:effectLst>
        </p:spPr>
      </p:pic>
      <p:pic>
        <p:nvPicPr>
          <p:cNvPr id="4" name="Imagem 23">
            <a:extLst>
              <a:ext uri="{FF2B5EF4-FFF2-40B4-BE49-F238E27FC236}">
                <a16:creationId xmlns:a16="http://schemas.microsoft.com/office/drawing/2014/main" id="{64922903-D745-D420-4419-3F64C7F4D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6506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942A7-141F-9EDA-2608-246B60C5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83E04-F581-D2E2-8FD6-89CB0C26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tx1"/>
                </a:solidFill>
              </a:rPr>
              <a:t>JUSTIFICATIVA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B8218A0-FADA-D233-8DEB-C569F6226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56962" y="2011988"/>
            <a:ext cx="4998721" cy="4023360"/>
          </a:xfrm>
        </p:spPr>
        <p:txBody>
          <a:bodyPr vert="horz" lIns="0" tIns="45720" rIns="0" bIns="45720" rtlCol="0" anchor="t">
            <a:normAutofit/>
          </a:bodyPr>
          <a:lstStyle/>
          <a:p>
            <a:pPr marL="570865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2200" b="1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Justificativa: </a:t>
            </a:r>
            <a:endParaRPr lang="pt-BR" sz="2400" b="1">
              <a:solidFill>
                <a:schemeClr val="tx1"/>
              </a:solidFill>
              <a:latin typeface="Arial"/>
              <a:ea typeface="Times New Roman" panose="02020603050405020304" pitchFamily="18" charset="0"/>
              <a:cs typeface="Arial"/>
            </a:endParaRP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/>
              <a:t>A criação da loja virtual justifica-se pela necessidade de ampliar o alcance de cliente além do público local, suprindo a ausência de um e-commerce e aproveitando os conhecimentos do curso de Informática para aumentar competitividade e vendas.</a:t>
            </a:r>
            <a:endParaRPr lang="pt-BR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Espaço Reservado para Conteúdo 7">
            <a:extLst>
              <a:ext uri="{FF2B5EF4-FFF2-40B4-BE49-F238E27FC236}">
                <a16:creationId xmlns:a16="http://schemas.microsoft.com/office/drawing/2014/main" id="{B5ECA9D8-E06C-CDFB-3FC1-002D6CB6ED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77392" y="2602248"/>
            <a:ext cx="4588625" cy="2672628"/>
          </a:xfrm>
          <a:effectLst>
            <a:reflection blurRad="50800" stA="36000" endPos="19000" dir="5400000" sy="-100000" algn="bl" rotWithShape="0"/>
          </a:effectLst>
        </p:spPr>
      </p:pic>
      <p:pic>
        <p:nvPicPr>
          <p:cNvPr id="20" name="Imagem 23">
            <a:extLst>
              <a:ext uri="{FF2B5EF4-FFF2-40B4-BE49-F238E27FC236}">
                <a16:creationId xmlns:a16="http://schemas.microsoft.com/office/drawing/2014/main" id="{12993821-1B2D-6BE9-8ED8-74488D780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33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9921-1282-2AAB-664C-ADEAE279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1249A1F2-6EC3-4D83-EC0C-F29DE824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tx1"/>
                </a:solidFill>
              </a:rPr>
              <a:t>OBJETIVOS ESPECÍFICOS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0F15132-AD61-BB35-835D-47BE6438D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956347"/>
            <a:ext cx="4937760" cy="4023360"/>
          </a:xfrm>
        </p:spPr>
        <p:txBody>
          <a:bodyPr vert="horz" lIns="0" tIns="45720" rIns="0" bIns="45720" rtlCol="0" anchor="t">
            <a:normAutofit fontScale="92500"/>
          </a:bodyPr>
          <a:lstStyle/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Exibição de produtos em vitrine;</a:t>
            </a:r>
            <a:endParaRPr lang="pt-BR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Filtragem e categorização de roupas;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Página de favoritos;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Carrinho de compras;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Finalização de pedidos (checkout);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Financeiro;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C8EFC09-ACFE-4D6E-002E-0006266F3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956348"/>
            <a:ext cx="4937760" cy="4023360"/>
          </a:xfrm>
        </p:spPr>
        <p:txBody>
          <a:bodyPr vert="horz" lIns="0" tIns="45720" rIns="0" bIns="45720" rtlCol="0" anchor="t">
            <a:normAutofit fontScale="92500"/>
          </a:bodyPr>
          <a:lstStyle/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Logística de entrega;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Página de perfil do usuário (cliente);</a:t>
            </a:r>
          </a:p>
          <a:p>
            <a:pPr marL="1229360" lvl="3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1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Gerenciamento de dados;</a:t>
            </a:r>
          </a:p>
          <a:p>
            <a:pPr marL="1229360" lvl="3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1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Acompanhamento de pedidos.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Gerenciamento de dados dos produtos: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1412240" lvl="4" indent="-18224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1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Cadastro, pesquisa e exclusão.</a:t>
            </a:r>
          </a:p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22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Gestão de pedidos.</a:t>
            </a:r>
          </a:p>
        </p:txBody>
      </p:sp>
      <p:pic>
        <p:nvPicPr>
          <p:cNvPr id="14" name="Imagem 23">
            <a:extLst>
              <a:ext uri="{FF2B5EF4-FFF2-40B4-BE49-F238E27FC236}">
                <a16:creationId xmlns:a16="http://schemas.microsoft.com/office/drawing/2014/main" id="{28F9E4D7-1556-2CA7-C706-910CE4105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475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BE968-10A6-0F1B-75A8-89669592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ogotipo&#10;&#10;O conteúdo gerado por IA pode estar incorreto.">
            <a:extLst>
              <a:ext uri="{FF2B5EF4-FFF2-40B4-BE49-F238E27FC236}">
                <a16:creationId xmlns:a16="http://schemas.microsoft.com/office/drawing/2014/main" id="{A11D9DB4-A0F2-9B2D-2180-4008D9AD4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198" y="2194321"/>
            <a:ext cx="741771" cy="77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81B54F-7ACA-5A86-3A1C-E687BA87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883" y="255497"/>
            <a:ext cx="9386048" cy="1156447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tx1"/>
                </a:solidFill>
              </a:rPr>
              <a:t>TECNOLOGIAS UTILIZADAS</a:t>
            </a:r>
          </a:p>
        </p:txBody>
      </p:sp>
      <p:pic>
        <p:nvPicPr>
          <p:cNvPr id="28" name="Imagem 27" descr="Ícone&#10;&#10;O conteúdo gerado por IA pode estar incorreto.">
            <a:extLst>
              <a:ext uri="{FF2B5EF4-FFF2-40B4-BE49-F238E27FC236}">
                <a16:creationId xmlns:a16="http://schemas.microsoft.com/office/drawing/2014/main" id="{D0FCE912-370E-6627-F23B-D3197602AC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43" y="3173414"/>
            <a:ext cx="871169" cy="770527"/>
          </a:xfrm>
          <a:prstGeom prst="rect">
            <a:avLst/>
          </a:prstGeom>
        </p:spPr>
      </p:pic>
      <p:pic>
        <p:nvPicPr>
          <p:cNvPr id="30" name="Imagem 29" descr="Logotipo&#10;&#10;O conteúdo gerado por IA pode estar incorreto.">
            <a:extLst>
              <a:ext uri="{FF2B5EF4-FFF2-40B4-BE49-F238E27FC236}">
                <a16:creationId xmlns:a16="http://schemas.microsoft.com/office/drawing/2014/main" id="{650B1259-1230-C01E-F545-E221D1AEA5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8" t="34446" r="9355" b="30906"/>
          <a:stretch>
            <a:fillRect/>
          </a:stretch>
        </p:blipFill>
        <p:spPr>
          <a:xfrm>
            <a:off x="811462" y="5137249"/>
            <a:ext cx="1183135" cy="450212"/>
          </a:xfrm>
          <a:prstGeom prst="rect">
            <a:avLst/>
          </a:prstGeom>
        </p:spPr>
      </p:pic>
      <p:pic>
        <p:nvPicPr>
          <p:cNvPr id="32" name="Imagem 31" descr="Logotipo&#10;&#10;O conteúdo gerado por IA pode estar incorreto.">
            <a:extLst>
              <a:ext uri="{FF2B5EF4-FFF2-40B4-BE49-F238E27FC236}">
                <a16:creationId xmlns:a16="http://schemas.microsoft.com/office/drawing/2014/main" id="{16061B95-20AE-12CF-5938-D760A323E6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43" y="4108929"/>
            <a:ext cx="871169" cy="770526"/>
          </a:xfrm>
          <a:prstGeom prst="rect">
            <a:avLst/>
          </a:prstGeom>
        </p:spPr>
      </p:pic>
      <p:pic>
        <p:nvPicPr>
          <p:cNvPr id="34" name="Imagem 33" descr="Logotipo&#10;&#10;O conteúdo gerado por IA pode estar incorreto.">
            <a:extLst>
              <a:ext uri="{FF2B5EF4-FFF2-40B4-BE49-F238E27FC236}">
                <a16:creationId xmlns:a16="http://schemas.microsoft.com/office/drawing/2014/main" id="{AC6C806D-9A47-3505-2CFA-9BDAB2C1489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43" y="2252275"/>
            <a:ext cx="871169" cy="784904"/>
          </a:xfrm>
          <a:prstGeom prst="rect">
            <a:avLst/>
          </a:prstGeom>
        </p:spPr>
      </p:pic>
      <p:sp>
        <p:nvSpPr>
          <p:cNvPr id="35" name="Espaço Reservado para Conteúdo 2">
            <a:extLst>
              <a:ext uri="{FF2B5EF4-FFF2-40B4-BE49-F238E27FC236}">
                <a16:creationId xmlns:a16="http://schemas.microsoft.com/office/drawing/2014/main" id="{456EC92F-8728-3512-0361-0D828450166A}"/>
              </a:ext>
            </a:extLst>
          </p:cNvPr>
          <p:cNvSpPr txBox="1">
            <a:spLocks/>
          </p:cNvSpPr>
          <p:nvPr/>
        </p:nvSpPr>
        <p:spPr>
          <a:xfrm>
            <a:off x="1642597" y="2247693"/>
            <a:ext cx="3278348" cy="784904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 HTML5;</a:t>
            </a:r>
          </a:p>
        </p:txBody>
      </p:sp>
      <p:sp>
        <p:nvSpPr>
          <p:cNvPr id="36" name="Espaço Reservado para Conteúdo 2">
            <a:extLst>
              <a:ext uri="{FF2B5EF4-FFF2-40B4-BE49-F238E27FC236}">
                <a16:creationId xmlns:a16="http://schemas.microsoft.com/office/drawing/2014/main" id="{A844F5B8-D7C5-C692-1CF8-2B9D41618EFA}"/>
              </a:ext>
            </a:extLst>
          </p:cNvPr>
          <p:cNvSpPr txBox="1">
            <a:spLocks/>
          </p:cNvSpPr>
          <p:nvPr/>
        </p:nvSpPr>
        <p:spPr>
          <a:xfrm>
            <a:off x="1642075" y="3181191"/>
            <a:ext cx="3292726" cy="75615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 CSS3;</a:t>
            </a:r>
            <a:endParaRPr lang="pt-BR" sz="28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7" name="Espaço Reservado para Conteúdo 2">
            <a:extLst>
              <a:ext uri="{FF2B5EF4-FFF2-40B4-BE49-F238E27FC236}">
                <a16:creationId xmlns:a16="http://schemas.microsoft.com/office/drawing/2014/main" id="{6D5D197F-3A9A-4B21-437D-AE17DB0A1B13}"/>
              </a:ext>
            </a:extLst>
          </p:cNvPr>
          <p:cNvSpPr txBox="1">
            <a:spLocks/>
          </p:cNvSpPr>
          <p:nvPr/>
        </p:nvSpPr>
        <p:spPr>
          <a:xfrm>
            <a:off x="1686409" y="4977614"/>
            <a:ext cx="3437384" cy="75615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 Go (</a:t>
            </a:r>
            <a:r>
              <a:rPr lang="pt-BR" sz="2800" err="1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Golang</a:t>
            </a: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);</a:t>
            </a:r>
            <a:endParaRPr lang="pt-BR" sz="28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8" name="Espaço Reservado para Conteúdo 2">
            <a:extLst>
              <a:ext uri="{FF2B5EF4-FFF2-40B4-BE49-F238E27FC236}">
                <a16:creationId xmlns:a16="http://schemas.microsoft.com/office/drawing/2014/main" id="{57B3BC80-B90D-82B7-147B-21C7460241EE}"/>
              </a:ext>
            </a:extLst>
          </p:cNvPr>
          <p:cNvSpPr txBox="1">
            <a:spLocks/>
          </p:cNvSpPr>
          <p:nvPr/>
        </p:nvSpPr>
        <p:spPr>
          <a:xfrm>
            <a:off x="1683636" y="4109452"/>
            <a:ext cx="3267568" cy="77052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3600" lvl="1" indent="-342265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 </a:t>
            </a:r>
            <a:r>
              <a:rPr lang="pt-BR" sz="2800" err="1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JavaScript</a:t>
            </a: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;</a:t>
            </a:r>
          </a:p>
        </p:txBody>
      </p:sp>
      <p:sp>
        <p:nvSpPr>
          <p:cNvPr id="40" name="Espaço Reservado para Conteúdo 2">
            <a:extLst>
              <a:ext uri="{FF2B5EF4-FFF2-40B4-BE49-F238E27FC236}">
                <a16:creationId xmlns:a16="http://schemas.microsoft.com/office/drawing/2014/main" id="{7D8015B5-81D5-4336-3E8A-4C110A2491BD}"/>
              </a:ext>
            </a:extLst>
          </p:cNvPr>
          <p:cNvSpPr txBox="1">
            <a:spLocks/>
          </p:cNvSpPr>
          <p:nvPr/>
        </p:nvSpPr>
        <p:spPr>
          <a:xfrm>
            <a:off x="7693910" y="2294963"/>
            <a:ext cx="2789519" cy="58362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3600" lvl="1" indent="-342900" algn="just">
              <a:lnSpc>
                <a:spcPct val="150000"/>
              </a:lnSpc>
              <a:spcAft>
                <a:spcPts val="0"/>
              </a:spcAft>
              <a:buFont typeface="Wingdings" pitchFamily="34" charset="0"/>
              <a:buChar char="q"/>
            </a:pP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 MySQL.</a:t>
            </a:r>
            <a:endParaRPr lang="en-US" sz="28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111742-4ED6-68E2-1EC6-57CBC4555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7346" y="3142093"/>
            <a:ext cx="752688" cy="795820"/>
          </a:xfrm>
          <a:prstGeom prst="rect">
            <a:avLst/>
          </a:prstGeom>
        </p:spPr>
      </p:pic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389CED43-BD10-7F66-8BB5-F47DDBEBC1D1}"/>
              </a:ext>
            </a:extLst>
          </p:cNvPr>
          <p:cNvSpPr txBox="1">
            <a:spLocks/>
          </p:cNvSpPr>
          <p:nvPr/>
        </p:nvSpPr>
        <p:spPr>
          <a:xfrm>
            <a:off x="7693910" y="3237182"/>
            <a:ext cx="3105820" cy="56924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3600" lvl="1" indent="-342900" algn="just">
              <a:lnSpc>
                <a:spcPct val="150000"/>
              </a:lnSpc>
              <a:spcAft>
                <a:spcPts val="0"/>
              </a:spcAft>
              <a:buFont typeface="Wingdings" pitchFamily="34" charset="0"/>
              <a:buChar char="q"/>
            </a:pP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 </a:t>
            </a:r>
            <a:r>
              <a:rPr lang="pt-BR" sz="2800" err="1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AbacatePay</a:t>
            </a:r>
            <a:r>
              <a:rPr lang="pt-BR" sz="2800">
                <a:solidFill>
                  <a:schemeClr val="tx1"/>
                </a:solidFill>
                <a:latin typeface="Arial"/>
                <a:ea typeface="Times New Roman" panose="02020603050405020304" pitchFamily="18" charset="0"/>
                <a:cs typeface="Arial"/>
              </a:rPr>
              <a:t>.</a:t>
            </a:r>
            <a:endParaRPr lang="en-US" sz="28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Imagem 23">
            <a:extLst>
              <a:ext uri="{FF2B5EF4-FFF2-40B4-BE49-F238E27FC236}">
                <a16:creationId xmlns:a16="http://schemas.microsoft.com/office/drawing/2014/main" id="{40ED8727-CEA4-E9B8-5B70-D022ED7CB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796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51FCA92-37FC-419D-880C-DEE030371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28459" y="634946"/>
            <a:ext cx="4821283" cy="1450757"/>
          </a:xfrm>
        </p:spPr>
        <p:txBody>
          <a:bodyPr>
            <a:normAutofit/>
          </a:bodyPr>
          <a:lstStyle/>
          <a:p>
            <a:r>
              <a:rPr lang="pt-BR"/>
              <a:t>REFERÊNCIAS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F734FC-80ED-4400-9FB7-5800EE74A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3057906" cy="340823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29032A-F5B1-E42D-3D9A-40CA2AB2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36" y="1103420"/>
            <a:ext cx="2784700" cy="18448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54C209B-0440-412E-BEBF-D8694B5A0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061" y="321733"/>
            <a:ext cx="2583939" cy="1955250"/>
          </a:xfrm>
          <a:prstGeom prst="rect">
            <a:avLst/>
          </a:prstGeom>
          <a:solidFill>
            <a:srgbClr val="8AB833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EEBACE-87BA-4CA1-BF49-0E9ABA508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40096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DA25563-C462-4DA6-BB84-8243A6C7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879167"/>
            <a:ext cx="3057906" cy="2104612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10162-C75F-D55D-E0AE-EAE6A2BA3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37" y="4299106"/>
            <a:ext cx="2784700" cy="124831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4044755-AC7C-421A-B935-8BA9A23F8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8588" y="2451014"/>
            <a:ext cx="2567411" cy="3532765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ACD67-75DB-D8FE-7C08-C2729CB13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752" y="2787439"/>
            <a:ext cx="2295082" cy="2859915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28459" y="2198914"/>
            <a:ext cx="482128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 marL="90805" indent="-90805"/>
            <a:endParaRPr lang="en-US" b="1">
              <a:latin typeface="Arial"/>
              <a:cs typeface="Arial"/>
            </a:endParaRPr>
          </a:p>
          <a:p>
            <a:pPr marL="90805" indent="-90805"/>
            <a:r>
              <a:rPr lang="en-US" b="1">
                <a:latin typeface="Arial"/>
                <a:cs typeface="Arial"/>
              </a:rPr>
              <a:t>Calvin Klein</a:t>
            </a:r>
            <a:r>
              <a:rPr lang="en-US">
                <a:latin typeface="Arial"/>
                <a:cs typeface="Arial"/>
              </a:rPr>
              <a:t>, </a:t>
            </a:r>
            <a:r>
              <a:rPr lang="en-US" err="1">
                <a:latin typeface="Arial"/>
                <a:cs typeface="Arial"/>
              </a:rPr>
              <a:t>por</a:t>
            </a:r>
            <a:r>
              <a:rPr lang="en-US">
                <a:latin typeface="Arial"/>
                <a:cs typeface="Arial"/>
              </a:rPr>
              <a:t> Barry K. Schwartz.</a:t>
            </a:r>
            <a:endParaRPr lang="pt-BR">
              <a:latin typeface="Arial"/>
              <a:cs typeface="Arial"/>
            </a:endParaRPr>
          </a:p>
          <a:p>
            <a:pPr marL="90805" indent="-90805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05" indent="-90805"/>
            <a:r>
              <a:rPr lang="en-US" b="1" err="1">
                <a:latin typeface="Helvetica"/>
                <a:cs typeface="Arial"/>
              </a:rPr>
              <a:t>Lança</a:t>
            </a:r>
            <a:r>
              <a:rPr lang="en-US" b="1">
                <a:latin typeface="Helvetica"/>
                <a:cs typeface="Arial"/>
              </a:rPr>
              <a:t> Perfume</a:t>
            </a:r>
            <a:r>
              <a:rPr lang="pt-BR">
                <a:latin typeface="Arial"/>
                <a:cs typeface="Arial"/>
              </a:rPr>
              <a:t>, por Vera </a:t>
            </a:r>
            <a:r>
              <a:rPr lang="pt-BR" err="1">
                <a:latin typeface="Arial"/>
                <a:cs typeface="Arial"/>
              </a:rPr>
              <a:t>Sachet</a:t>
            </a:r>
            <a:r>
              <a:rPr lang="pt-BR">
                <a:latin typeface="Arial"/>
                <a:cs typeface="Arial"/>
              </a:rPr>
              <a:t> Oliva.</a:t>
            </a:r>
          </a:p>
          <a:p>
            <a:pPr marL="90805" indent="-90805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05" indent="-90805"/>
            <a:r>
              <a:rPr lang="en-US" b="1">
                <a:latin typeface="Helvetica"/>
                <a:cs typeface="Helvetica"/>
              </a:rPr>
              <a:t>CHANEL</a:t>
            </a:r>
            <a:r>
              <a:rPr lang="pt-BR">
                <a:latin typeface="Arial"/>
                <a:cs typeface="Arial"/>
              </a:rPr>
              <a:t>, por Coco Chanel.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225A9B-20AD-4869-96C9-770E8E704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4D5E4E-F019-44AF-AF49-8FBBFBBE6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Imagem 23">
            <a:extLst>
              <a:ext uri="{FF2B5EF4-FFF2-40B4-BE49-F238E27FC236}">
                <a16:creationId xmlns:a16="http://schemas.microsoft.com/office/drawing/2014/main" id="{10136A8C-8E3D-2A58-B7F6-3632B78B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835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167B8-1647-A46A-A27A-D63476AC2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74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PROTOTIPAÇÃO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9F87-EBB3-5BBA-BCA3-0BA793206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buNone/>
            </a:pPr>
            <a:r>
              <a:rPr lang="en-US" sz="2400" cap="all" spc="200">
                <a:solidFill>
                  <a:schemeClr val="tx2"/>
                </a:solidFill>
                <a:latin typeface="+mj-lt"/>
              </a:rPr>
              <a:t>Apresentação de execução de projeto.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Imagem 23">
            <a:extLst>
              <a:ext uri="{FF2B5EF4-FFF2-40B4-BE49-F238E27FC236}">
                <a16:creationId xmlns:a16="http://schemas.microsoft.com/office/drawing/2014/main" id="{B49B9740-0DE9-B33D-FA0F-547994D61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540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08305" y="2014797"/>
            <a:ext cx="9712759" cy="43513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pt-BR" sz="3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“O homem não teria alcançado o possível se, repetidas vezes, não tivesse tentado o impossível.” </a:t>
            </a:r>
          </a:p>
          <a:p>
            <a:pPr marL="0" indent="0" algn="r">
              <a:buNone/>
            </a:pPr>
            <a:r>
              <a:rPr lang="pt-BR"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(Max Weber)</a:t>
            </a:r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  <a:p>
            <a:pPr marL="0" indent="0" algn="just">
              <a:buNone/>
            </a:pPr>
            <a:endParaRPr lang="pt-BR"/>
          </a:p>
        </p:txBody>
      </p:sp>
      <p:pic>
        <p:nvPicPr>
          <p:cNvPr id="4" name="Imagem 23">
            <a:extLst>
              <a:ext uri="{FF2B5EF4-FFF2-40B4-BE49-F238E27FC236}">
                <a16:creationId xmlns:a16="http://schemas.microsoft.com/office/drawing/2014/main" id="{DBF1F810-08C7-49F5-B64C-F6D6B0795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90042" y="409728"/>
            <a:ext cx="713187" cy="915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1">
            <a:extLst>
              <a:ext uri="{FF2B5EF4-FFF2-40B4-BE49-F238E27FC236}">
                <a16:creationId xmlns:a16="http://schemas.microsoft.com/office/drawing/2014/main" id="{DD7B56C4-6BEB-42F7-B2B6-9E896ABE75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03792" y="478962"/>
            <a:ext cx="862367" cy="773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002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77FB-F3BC-A049-0D57-7B25133B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E354B-C9B4-483A-06BB-60A5975E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883" y="255497"/>
            <a:ext cx="9386048" cy="1156447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AGRADECIMENTOS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9170948E-2B45-9699-AC1D-2FDF1E0DC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699" y="2092038"/>
            <a:ext cx="5586232" cy="3906983"/>
          </a:xfrm>
        </p:spPr>
        <p:txBody>
          <a:bodyPr>
            <a:normAutofit fontScale="85000" lnSpcReduction="10000"/>
          </a:bodyPr>
          <a:lstStyle/>
          <a:p>
            <a:pPr marL="228589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Agradeço primeiramente à minha mãe, Vanessa, por me dar a oportunidade de desenvolver este projeto, confiando em minhas habilidades.</a:t>
            </a:r>
          </a:p>
          <a:p>
            <a:pPr marL="228589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À orientadora Cristiane </a:t>
            </a:r>
            <a:r>
              <a:rPr lang="pt-BR" sz="22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Pavei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2200" dirty="0" err="1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Martinello</a:t>
            </a: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Fernandes, pelo apoio e orientação técnica durante todo o processo.</a:t>
            </a:r>
          </a:p>
          <a:p>
            <a:pPr marL="228589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pt-BR" sz="22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À banca examinadora e à instituição SATC por esta jornada de aprendizado.</a:t>
            </a:r>
          </a:p>
        </p:txBody>
      </p:sp>
      <p:sp>
        <p:nvSpPr>
          <p:cNvPr id="3" name="AutoShape 2" descr="Gratidão E Sentimento De Gratidão Conceito De Agradecimento Pessoas Vetor  Modelo para download gratuito no Pngtree">
            <a:extLst>
              <a:ext uri="{FF2B5EF4-FFF2-40B4-BE49-F238E27FC236}">
                <a16:creationId xmlns:a16="http://schemas.microsoft.com/office/drawing/2014/main" id="{4992B55C-B1FB-E9FB-D3D1-DB8B1C643B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0075" y="3276602"/>
            <a:ext cx="3588327" cy="358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andshake - Free hands and gestures icons">
            <a:extLst>
              <a:ext uri="{FF2B5EF4-FFF2-40B4-BE49-F238E27FC236}">
                <a16:creationId xmlns:a16="http://schemas.microsoft.com/office/drawing/2014/main" id="{ADC1BFE6-7976-9729-58F6-745E5E5F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92" y="2092036"/>
            <a:ext cx="3588328" cy="3588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23">
            <a:extLst>
              <a:ext uri="{FF2B5EF4-FFF2-40B4-BE49-F238E27FC236}">
                <a16:creationId xmlns:a16="http://schemas.microsoft.com/office/drawing/2014/main" id="{F992574F-651C-65B6-C193-1B5B5C8F3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2319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5CF04-CCFD-87EB-AB2D-886589900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8000" spc="-5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Muito</a:t>
            </a:r>
            <a:r>
              <a:rPr lang="en-US" sz="80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 obrigado!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5" name="Imagem 23">
            <a:extLst>
              <a:ext uri="{FF2B5EF4-FFF2-40B4-BE49-F238E27FC236}">
                <a16:creationId xmlns:a16="http://schemas.microsoft.com/office/drawing/2014/main" id="{6501063D-3B9B-9314-7CE9-E17773A7C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0828" y="534847"/>
            <a:ext cx="532000" cy="70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6696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f0f8e1-d493-482a-9a70-3add485f299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D85D7B5627154191E4A3B00EB68EBB" ma:contentTypeVersion="16" ma:contentTypeDescription="Create a new document." ma:contentTypeScope="" ma:versionID="30987bcc8da5cc90c89dbcc8e3d57799">
  <xsd:schema xmlns:xsd="http://www.w3.org/2001/XMLSchema" xmlns:xs="http://www.w3.org/2001/XMLSchema" xmlns:p="http://schemas.microsoft.com/office/2006/metadata/properties" xmlns:ns3="f2f0f8e1-d493-482a-9a70-3add485f2990" xmlns:ns4="c293627a-5568-41ba-98e4-5a8534f4908d" targetNamespace="http://schemas.microsoft.com/office/2006/metadata/properties" ma:root="true" ma:fieldsID="8fb8ed2b9361b3862727e0f855e111c8" ns3:_="" ns4:_="">
    <xsd:import namespace="f2f0f8e1-d493-482a-9a70-3add485f2990"/>
    <xsd:import namespace="c293627a-5568-41ba-98e4-5a8534f490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f0f8e1-d493-482a-9a70-3add485f29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3627a-5568-41ba-98e4-5a8534f49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209C5F-F78B-4152-8089-BD3C3B5325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301726-E5BD-406D-AA0E-66B4677A79AE}">
  <ds:schemaRefs>
    <ds:schemaRef ds:uri="c293627a-5568-41ba-98e4-5a8534f4908d"/>
    <ds:schemaRef ds:uri="f2f0f8e1-d493-482a-9a70-3add485f299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2F6513C-3EF8-46D3-AC9D-F3E3DF7BF09D}">
  <ds:schemaRefs>
    <ds:schemaRef ds:uri="c293627a-5568-41ba-98e4-5a8534f4908d"/>
    <ds:schemaRef ds:uri="f2f0f8e1-d493-482a-9a70-3add485f29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Retrospectiva</vt:lpstr>
      <vt:lpstr>   Sociedade Assistência aos Trabalhadores do Carvão – SATC  Curso Técnico em Informática</vt:lpstr>
      <vt:lpstr>OBJETIVO GERAL</vt:lpstr>
      <vt:lpstr>JUSTIFICATIVA</vt:lpstr>
      <vt:lpstr>OBJETIVOS ESPECÍFICOS</vt:lpstr>
      <vt:lpstr>TECNOLOGIAS UTILIZADAS</vt:lpstr>
      <vt:lpstr>REFERÊNCIAS</vt:lpstr>
      <vt:lpstr>PROTOTIPAÇÃO</vt:lpstr>
      <vt:lpstr>Apresentação do PowerPoint</vt:lpstr>
      <vt:lpstr>AGRADECIMENTOS</vt:lpstr>
      <vt:lpstr>Muito obrigado!</vt:lpstr>
    </vt:vector>
  </TitlesOfParts>
  <Company>La Moda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Engenharia de Produção Trabalho de Conclusão de Curso I</dc:title>
  <dc:creator>Vanessa Fermino Trento</dc:creator>
  <cp:revision>79</cp:revision>
  <dcterms:created xsi:type="dcterms:W3CDTF">2018-11-21T01:34:01Z</dcterms:created>
  <dcterms:modified xsi:type="dcterms:W3CDTF">2025-11-03T19:25:43Z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0x01010021D85D7B5627154191E4A3B00EB68EBB</vt:lpwstr>
  </property>
</Properties>
</file>